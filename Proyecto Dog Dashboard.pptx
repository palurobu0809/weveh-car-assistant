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Inter Light"/>
      <p:regular r:id="rId17"/>
      <p:bold r:id="rId18"/>
      <p:italic r:id="rId19"/>
      <p:boldItalic r:id="rId20"/>
    </p:embeddedFont>
    <p:embeddedFont>
      <p:font typeface="Playfair Display"/>
      <p:regular r:id="rId21"/>
      <p:bold r:id="rId22"/>
      <p:italic r:id="rId23"/>
      <p:boldItalic r:id="rId24"/>
    </p:embeddedFont>
    <p:embeddedFont>
      <p:font typeface="Int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1DE13F-6DE6-4531-A402-A2E6D181AC56}">
  <a:tblStyle styleId="{111DE13F-6DE6-4531-A402-A2E6D181AC5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Light-boldItalic.fntdata"/><Relationship Id="rId22" Type="http://schemas.openxmlformats.org/officeDocument/2006/relationships/font" Target="fonts/PlayfairDisplay-bold.fntdata"/><Relationship Id="rId21" Type="http://schemas.openxmlformats.org/officeDocument/2006/relationships/font" Target="fonts/PlayfairDisplay-regular.fntdata"/><Relationship Id="rId24" Type="http://schemas.openxmlformats.org/officeDocument/2006/relationships/font" Target="fonts/PlayfairDisplay-boldItalic.fntdata"/><Relationship Id="rId23" Type="http://schemas.openxmlformats.org/officeDocument/2006/relationships/font" Target="fonts/PlayfairDispl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Light-regular.fntdata"/><Relationship Id="rId16" Type="http://schemas.openxmlformats.org/officeDocument/2006/relationships/slide" Target="slides/slide10.xml"/><Relationship Id="rId19" Type="http://schemas.openxmlformats.org/officeDocument/2006/relationships/font" Target="fonts/InterLight-italic.fntdata"/><Relationship Id="rId18" Type="http://schemas.openxmlformats.org/officeDocument/2006/relationships/font" Target="fonts/Inter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3.png"/><Relationship Id="rId7" Type="http://schemas.openxmlformats.org/officeDocument/2006/relationships/image" Target="../media/image17.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6.png"/><Relationship Id="rId7"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809750" y="2743200"/>
            <a:ext cx="9001125" cy="7542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400" u="none" cap="none" strike="noStrike">
                <a:solidFill>
                  <a:srgbClr val="0F172A"/>
                </a:solidFill>
                <a:latin typeface="Playfair Display"/>
                <a:ea typeface="Playfair Display"/>
                <a:cs typeface="Playfair Display"/>
                <a:sym typeface="Playfair Display"/>
              </a:rPr>
              <a:t>Proyecto: Dog Dashboard</a:t>
            </a:r>
            <a:endParaRPr/>
          </a:p>
        </p:txBody>
      </p:sp>
      <p:sp>
        <p:nvSpPr>
          <p:cNvPr id="86" name="Google Shape;86;p13"/>
          <p:cNvSpPr txBox="1"/>
          <p:nvPr/>
        </p:nvSpPr>
        <p:spPr>
          <a:xfrm>
            <a:off x="1809750" y="3687960"/>
            <a:ext cx="8572500" cy="426690"/>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None/>
            </a:pPr>
            <a:r>
              <a:rPr b="0" i="0" lang="en-US" sz="2100" u="none" cap="none" strike="noStrike">
                <a:solidFill>
                  <a:srgbClr val="475569"/>
                </a:solidFill>
                <a:latin typeface="Inter Light"/>
                <a:ea typeface="Inter Light"/>
                <a:cs typeface="Inter Light"/>
                <a:sym typeface="Inter Light"/>
              </a:rPr>
              <a:t>Gestión Inteligente de Correos Impulsada por IA para Ejecutivos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6381750" y="1990725"/>
            <a:ext cx="5038725" cy="4000500"/>
          </a:xfrm>
          <a:prstGeom prst="rect">
            <a:avLst/>
          </a:prstGeom>
          <a:noFill/>
          <a:ln>
            <a:noFill/>
          </a:ln>
        </p:spPr>
      </p:pic>
      <p:sp>
        <p:nvSpPr>
          <p:cNvPr id="93" name="Google Shape;93;p14"/>
          <p:cNvSpPr txBox="1"/>
          <p:nvPr/>
        </p:nvSpPr>
        <p:spPr>
          <a:xfrm>
            <a:off x="1104900" y="2262187"/>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Sobrecarga de Información:</a:t>
            </a:r>
            <a:r>
              <a:rPr b="0" i="0" lang="en-US" sz="1500" u="none" cap="none" strike="noStrike">
                <a:solidFill>
                  <a:srgbClr val="334155"/>
                </a:solidFill>
                <a:latin typeface="Inter"/>
                <a:ea typeface="Inter"/>
                <a:cs typeface="Inter"/>
                <a:sym typeface="Inter"/>
              </a:rPr>
              <a:t> Ejecutivos y profesionales corporativos reciben un volumen altísimo de correos diarios.</a:t>
            </a:r>
            <a:endParaRPr/>
          </a:p>
        </p:txBody>
      </p:sp>
      <p:sp>
        <p:nvSpPr>
          <p:cNvPr id="94" name="Google Shape;94;p14"/>
          <p:cNvSpPr txBox="1"/>
          <p:nvPr/>
        </p:nvSpPr>
        <p:spPr>
          <a:xfrm>
            <a:off x="1104900" y="3414712"/>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Falta de Priorización:</a:t>
            </a:r>
            <a:r>
              <a:rPr b="0" i="0" lang="en-US" sz="1500" u="none" cap="none" strike="noStrike">
                <a:solidFill>
                  <a:srgbClr val="334155"/>
                </a:solidFill>
                <a:latin typeface="Inter"/>
                <a:ea typeface="Inter"/>
                <a:cs typeface="Inter"/>
                <a:sym typeface="Inter"/>
              </a:rPr>
              <a:t> La información crítica de clientes y jefes se pierde entre boletines, spam y mensajes irrelevantes.</a:t>
            </a:r>
            <a:endParaRPr/>
          </a:p>
        </p:txBody>
      </p:sp>
      <p:sp>
        <p:nvSpPr>
          <p:cNvPr id="95" name="Google Shape;95;p14"/>
          <p:cNvSpPr txBox="1"/>
          <p:nvPr/>
        </p:nvSpPr>
        <p:spPr>
          <a:xfrm>
            <a:off x="1104900" y="4567237"/>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Impacto Operativo:</a:t>
            </a:r>
            <a:r>
              <a:rPr b="0" i="0" lang="en-US" sz="1500" u="none" cap="none" strike="noStrike">
                <a:solidFill>
                  <a:srgbClr val="334155"/>
                </a:solidFill>
                <a:latin typeface="Inter"/>
                <a:ea typeface="Inter"/>
                <a:cs typeface="Inter"/>
                <a:sym typeface="Inter"/>
              </a:rPr>
              <a:t> Esto genera pérdida de tiempo valioso, aumento de estrés y retrasos inaceptables en las respuestas.</a:t>
            </a:r>
            <a:endParaRPr/>
          </a:p>
        </p:txBody>
      </p:sp>
      <p:sp>
        <p:nvSpPr>
          <p:cNvPr id="96" name="Google Shape;96;p14"/>
          <p:cNvSpPr txBox="1"/>
          <p:nvPr/>
        </p:nvSpPr>
        <p:spPr>
          <a:xfrm>
            <a:off x="771525" y="2281237"/>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97" name="Google Shape;97;p14"/>
          <p:cNvSpPr txBox="1"/>
          <p:nvPr/>
        </p:nvSpPr>
        <p:spPr>
          <a:xfrm>
            <a:off x="771525" y="3433762"/>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98" name="Google Shape;98;p14"/>
          <p:cNvSpPr txBox="1"/>
          <p:nvPr/>
        </p:nvSpPr>
        <p:spPr>
          <a:xfrm>
            <a:off x="771525" y="4586287"/>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99" name="Google Shape;99;p14"/>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La Crisis de la Bandeja de Entrada</a:t>
            </a:r>
            <a:endParaRPr/>
          </a:p>
        </p:txBody>
      </p:sp>
      <p:sp>
        <p:nvSpPr>
          <p:cNvPr id="100" name="Google Shape;100;p14"/>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1" name="Google Shape;101;p14"/>
          <p:cNvPicPr preferRelativeResize="0"/>
          <p:nvPr/>
        </p:nvPicPr>
        <p:blipFill>
          <a:blip r:embed="rId5">
            <a:alphaModFix/>
          </a:blip>
          <a:stretch>
            <a:fillRect/>
          </a:stretch>
        </p:blipFill>
        <p:spPr>
          <a:xfrm>
            <a:off x="6048363" y="1990700"/>
            <a:ext cx="5781675" cy="3133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pic>
        <p:nvPicPr>
          <p:cNvPr descr="image.png" id="106" name="Google Shape;10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7" name="Google Shape;107;p15"/>
          <p:cNvPicPr preferRelativeResize="0"/>
          <p:nvPr/>
        </p:nvPicPr>
        <p:blipFill rotWithShape="1">
          <a:blip r:embed="rId4">
            <a:alphaModFix/>
          </a:blip>
          <a:srcRect b="0" l="0" r="0" t="0"/>
          <a:stretch/>
        </p:blipFill>
        <p:spPr>
          <a:xfrm>
            <a:off x="771525" y="2266950"/>
            <a:ext cx="3359050" cy="3448050"/>
          </a:xfrm>
          <a:prstGeom prst="rect">
            <a:avLst/>
          </a:prstGeom>
          <a:noFill/>
          <a:ln>
            <a:noFill/>
          </a:ln>
        </p:spPr>
      </p:pic>
      <p:pic>
        <p:nvPicPr>
          <p:cNvPr descr="image.png" id="108" name="Google Shape;108;p15"/>
          <p:cNvPicPr preferRelativeResize="0"/>
          <p:nvPr/>
        </p:nvPicPr>
        <p:blipFill rotWithShape="1">
          <a:blip r:embed="rId5">
            <a:alphaModFix/>
          </a:blip>
          <a:srcRect b="0" l="0" r="0" t="0"/>
          <a:stretch/>
        </p:blipFill>
        <p:spPr>
          <a:xfrm>
            <a:off x="4416325" y="2266950"/>
            <a:ext cx="3359199" cy="3448050"/>
          </a:xfrm>
          <a:prstGeom prst="rect">
            <a:avLst/>
          </a:prstGeom>
          <a:noFill/>
          <a:ln>
            <a:noFill/>
          </a:ln>
        </p:spPr>
      </p:pic>
      <p:pic>
        <p:nvPicPr>
          <p:cNvPr descr="image.png" id="109" name="Google Shape;109;p15"/>
          <p:cNvPicPr preferRelativeResize="0"/>
          <p:nvPr/>
        </p:nvPicPr>
        <p:blipFill rotWithShape="1">
          <a:blip r:embed="rId6">
            <a:alphaModFix/>
          </a:blip>
          <a:srcRect b="0" l="0" r="0" t="0"/>
          <a:stretch/>
        </p:blipFill>
        <p:spPr>
          <a:xfrm>
            <a:off x="8061275" y="2266950"/>
            <a:ext cx="3359050" cy="3448050"/>
          </a:xfrm>
          <a:prstGeom prst="rect">
            <a:avLst/>
          </a:prstGeom>
          <a:noFill/>
          <a:ln>
            <a:noFill/>
          </a:ln>
        </p:spPr>
      </p:pic>
      <p:sp>
        <p:nvSpPr>
          <p:cNvPr id="110" name="Google Shape;110;p15"/>
          <p:cNvSpPr txBox="1"/>
          <p:nvPr/>
        </p:nvSpPr>
        <p:spPr>
          <a:xfrm>
            <a:off x="1066800" y="3362325"/>
            <a:ext cx="2906925"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Público Objetivo</a:t>
            </a:r>
            <a:endParaRPr/>
          </a:p>
        </p:txBody>
      </p:sp>
      <p:sp>
        <p:nvSpPr>
          <p:cNvPr id="111" name="Google Shape;111;p15"/>
          <p:cNvSpPr txBox="1"/>
          <p:nvPr/>
        </p:nvSpPr>
        <p:spPr>
          <a:xfrm>
            <a:off x="1066800" y="3800475"/>
            <a:ext cx="276850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Profesionales clave (gerentes, ventas, servicio al cliente) que dedican más de 2 horas al día gestionando su correo electrónico.</a:t>
            </a:r>
            <a:endParaRPr/>
          </a:p>
        </p:txBody>
      </p:sp>
      <p:sp>
        <p:nvSpPr>
          <p:cNvPr id="112" name="Google Shape;112;p15"/>
          <p:cNvSpPr txBox="1"/>
          <p:nvPr/>
        </p:nvSpPr>
        <p:spPr>
          <a:xfrm>
            <a:off x="4711600" y="3362325"/>
            <a:ext cx="2907082"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El Dolor Principal</a:t>
            </a:r>
            <a:endParaRPr/>
          </a:p>
        </p:txBody>
      </p:sp>
      <p:sp>
        <p:nvSpPr>
          <p:cNvPr id="113" name="Google Shape;113;p15"/>
          <p:cNvSpPr txBox="1"/>
          <p:nvPr/>
        </p:nvSpPr>
        <p:spPr>
          <a:xfrm>
            <a:off x="4711600" y="3800475"/>
            <a:ext cx="276864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La constante saturación de información ocasiona que correos críticos para el negocio tarden demasiado en ser identificados y leídos.</a:t>
            </a:r>
            <a:endParaRPr/>
          </a:p>
        </p:txBody>
      </p:sp>
      <p:sp>
        <p:nvSpPr>
          <p:cNvPr id="114" name="Google Shape;114;p15"/>
          <p:cNvSpPr txBox="1"/>
          <p:nvPr/>
        </p:nvSpPr>
        <p:spPr>
          <a:xfrm>
            <a:off x="8356550" y="3362325"/>
            <a:ext cx="2906925"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Fallas Actuales</a:t>
            </a:r>
            <a:endParaRPr/>
          </a:p>
        </p:txBody>
      </p:sp>
      <p:sp>
        <p:nvSpPr>
          <p:cNvPr id="115" name="Google Shape;115;p15"/>
          <p:cNvSpPr txBox="1"/>
          <p:nvPr/>
        </p:nvSpPr>
        <p:spPr>
          <a:xfrm>
            <a:off x="8356550" y="3800475"/>
            <a:ext cx="276850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Los filtros manuales por remitente o fecha no comprenden el contexto ni la urgencia real del mensaje, requiriendo revisión humana.</a:t>
            </a:r>
            <a:endParaRPr/>
          </a:p>
        </p:txBody>
      </p:sp>
      <p:pic>
        <p:nvPicPr>
          <p:cNvPr descr="image.png" id="116" name="Google Shape;116;p15"/>
          <p:cNvPicPr preferRelativeResize="0"/>
          <p:nvPr/>
        </p:nvPicPr>
        <p:blipFill rotWithShape="1">
          <a:blip r:embed="rId7">
            <a:alphaModFix/>
          </a:blip>
          <a:srcRect b="0" l="0" r="0" t="0"/>
          <a:stretch/>
        </p:blipFill>
        <p:spPr>
          <a:xfrm>
            <a:off x="1066800" y="2695575"/>
            <a:ext cx="476250" cy="381000"/>
          </a:xfrm>
          <a:prstGeom prst="rect">
            <a:avLst/>
          </a:prstGeom>
          <a:noFill/>
          <a:ln>
            <a:noFill/>
          </a:ln>
        </p:spPr>
      </p:pic>
      <p:pic>
        <p:nvPicPr>
          <p:cNvPr descr="image.png" id="117" name="Google Shape;117;p15"/>
          <p:cNvPicPr preferRelativeResize="0"/>
          <p:nvPr/>
        </p:nvPicPr>
        <p:blipFill rotWithShape="1">
          <a:blip r:embed="rId8">
            <a:alphaModFix/>
          </a:blip>
          <a:srcRect b="0" l="0" r="0" t="0"/>
          <a:stretch/>
        </p:blipFill>
        <p:spPr>
          <a:xfrm>
            <a:off x="4711600" y="2695575"/>
            <a:ext cx="381000" cy="381000"/>
          </a:xfrm>
          <a:prstGeom prst="rect">
            <a:avLst/>
          </a:prstGeom>
          <a:noFill/>
          <a:ln>
            <a:noFill/>
          </a:ln>
        </p:spPr>
      </p:pic>
      <p:pic>
        <p:nvPicPr>
          <p:cNvPr descr="image.png" id="118" name="Google Shape;118;p15"/>
          <p:cNvPicPr preferRelativeResize="0"/>
          <p:nvPr/>
        </p:nvPicPr>
        <p:blipFill rotWithShape="1">
          <a:blip r:embed="rId9">
            <a:alphaModFix/>
          </a:blip>
          <a:srcRect b="0" l="0" r="0" t="0"/>
          <a:stretch/>
        </p:blipFill>
        <p:spPr>
          <a:xfrm>
            <a:off x="8356550" y="2695575"/>
            <a:ext cx="428625" cy="381000"/>
          </a:xfrm>
          <a:prstGeom prst="rect">
            <a:avLst/>
          </a:prstGeom>
          <a:noFill/>
          <a:ln>
            <a:noFill/>
          </a:ln>
        </p:spPr>
      </p:pic>
      <p:sp>
        <p:nvSpPr>
          <p:cNvPr id="119" name="Google Shape;119;p15"/>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Análisis de Usuario y Limitaciones</a:t>
            </a:r>
            <a:endParaRPr/>
          </a:p>
        </p:txBody>
      </p:sp>
      <p:sp>
        <p:nvSpPr>
          <p:cNvPr id="120" name="Google Shape;120;p15"/>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pic>
        <p:nvPicPr>
          <p:cNvPr descr="image.png" id="125" name="Google Shape;125;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6" name="Google Shape;126;p16"/>
          <p:cNvPicPr preferRelativeResize="0"/>
          <p:nvPr/>
        </p:nvPicPr>
        <p:blipFill rotWithShape="1">
          <a:blip r:embed="rId4">
            <a:alphaModFix/>
          </a:blip>
          <a:srcRect b="0" l="0" r="0" t="0"/>
          <a:stretch/>
        </p:blipFill>
        <p:spPr>
          <a:xfrm>
            <a:off x="771525" y="2476500"/>
            <a:ext cx="5133975" cy="3028950"/>
          </a:xfrm>
          <a:prstGeom prst="rect">
            <a:avLst/>
          </a:prstGeom>
          <a:noFill/>
          <a:ln>
            <a:noFill/>
          </a:ln>
        </p:spPr>
      </p:pic>
      <p:pic>
        <p:nvPicPr>
          <p:cNvPr descr="image.png" id="127" name="Google Shape;127;p16"/>
          <p:cNvPicPr preferRelativeResize="0"/>
          <p:nvPr/>
        </p:nvPicPr>
        <p:blipFill rotWithShape="1">
          <a:blip r:embed="rId4">
            <a:alphaModFix/>
          </a:blip>
          <a:srcRect b="0" l="0" r="0" t="0"/>
          <a:stretch/>
        </p:blipFill>
        <p:spPr>
          <a:xfrm>
            <a:off x="6286500" y="2476500"/>
            <a:ext cx="5133975" cy="3028950"/>
          </a:xfrm>
          <a:prstGeom prst="rect">
            <a:avLst/>
          </a:prstGeom>
          <a:noFill/>
          <a:ln>
            <a:noFill/>
          </a:ln>
        </p:spPr>
      </p:pic>
      <p:sp>
        <p:nvSpPr>
          <p:cNvPr id="128" name="Google Shape;128;p16"/>
          <p:cNvSpPr txBox="1"/>
          <p:nvPr/>
        </p:nvSpPr>
        <p:spPr>
          <a:xfrm>
            <a:off x="1209675" y="2857500"/>
            <a:ext cx="4530566"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Comprensión Contextual</a:t>
            </a:r>
            <a:endParaRPr/>
          </a:p>
        </p:txBody>
      </p:sp>
      <p:sp>
        <p:nvSpPr>
          <p:cNvPr id="129" name="Google Shape;129;p16"/>
          <p:cNvSpPr txBox="1"/>
          <p:nvPr/>
        </p:nvSpPr>
        <p:spPr>
          <a:xfrm>
            <a:off x="1209675" y="3295650"/>
            <a:ext cx="4314825"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A diferencia de los filtros estáticos, nuestra IA puede interpretar el tono y la intención del correo. Distingue automáticamente la urgencia real (ej. "necesito este reporte hoy a las 3 PM") frente a un correo estándar, algo imposible con métodos tradicionales.</a:t>
            </a:r>
            <a:endParaRPr/>
          </a:p>
        </p:txBody>
      </p:sp>
      <p:sp>
        <p:nvSpPr>
          <p:cNvPr id="130" name="Google Shape;130;p16"/>
          <p:cNvSpPr txBox="1"/>
          <p:nvPr/>
        </p:nvSpPr>
        <p:spPr>
          <a:xfrm>
            <a:off x="6724650" y="3009900"/>
            <a:ext cx="4530566"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Extracción y Resumen</a:t>
            </a:r>
            <a:endParaRPr/>
          </a:p>
        </p:txBody>
      </p:sp>
      <p:sp>
        <p:nvSpPr>
          <p:cNvPr id="131" name="Google Shape;131;p16"/>
          <p:cNvSpPr txBox="1"/>
          <p:nvPr/>
        </p:nvSpPr>
        <p:spPr>
          <a:xfrm>
            <a:off x="6724650" y="3448050"/>
            <a:ext cx="43148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La IA extrae de inmediato la acción clave requerida por el usuario y genera un resumen ejecutivo. Al contrastarlo con listas de "Contactos VIP", asigna prioridades de forma inteligente sin intervención manual inicial.</a:t>
            </a:r>
            <a:endParaRPr/>
          </a:p>
        </p:txBody>
      </p:sp>
      <p:sp>
        <p:nvSpPr>
          <p:cNvPr id="132" name="Google Shape;132;p16"/>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La Ventaja de la Inteligencia Artificial</a:t>
            </a:r>
            <a:endParaRPr/>
          </a:p>
        </p:txBody>
      </p:sp>
      <p:sp>
        <p:nvSpPr>
          <p:cNvPr id="133" name="Google Shape;133;p16"/>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pic>
        <p:nvPicPr>
          <p:cNvPr descr="image.png" id="138" name="Google Shape;138;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9" name="Google Shape;139;p17"/>
          <p:cNvPicPr preferRelativeResize="0"/>
          <p:nvPr/>
        </p:nvPicPr>
        <p:blipFill rotWithShape="1">
          <a:blip r:embed="rId4">
            <a:alphaModFix/>
          </a:blip>
          <a:srcRect b="0" l="0" r="0" t="0"/>
          <a:stretch/>
        </p:blipFill>
        <p:spPr>
          <a:xfrm>
            <a:off x="771525" y="4467225"/>
            <a:ext cx="2342703" cy="1228725"/>
          </a:xfrm>
          <a:prstGeom prst="rect">
            <a:avLst/>
          </a:prstGeom>
          <a:noFill/>
          <a:ln>
            <a:noFill/>
          </a:ln>
        </p:spPr>
      </p:pic>
      <p:pic>
        <p:nvPicPr>
          <p:cNvPr descr="image.png" id="140" name="Google Shape;140;p17"/>
          <p:cNvPicPr preferRelativeResize="0"/>
          <p:nvPr/>
        </p:nvPicPr>
        <p:blipFill rotWithShape="1">
          <a:blip r:embed="rId5">
            <a:alphaModFix/>
          </a:blip>
          <a:srcRect b="0" l="0" r="0" t="0"/>
          <a:stretch/>
        </p:blipFill>
        <p:spPr>
          <a:xfrm>
            <a:off x="3540174" y="2667000"/>
            <a:ext cx="2342703" cy="1228725"/>
          </a:xfrm>
          <a:prstGeom prst="rect">
            <a:avLst/>
          </a:prstGeom>
          <a:noFill/>
          <a:ln>
            <a:noFill/>
          </a:ln>
        </p:spPr>
      </p:pic>
      <p:pic>
        <p:nvPicPr>
          <p:cNvPr descr="image.png" id="141" name="Google Shape;141;p17"/>
          <p:cNvPicPr preferRelativeResize="0"/>
          <p:nvPr/>
        </p:nvPicPr>
        <p:blipFill rotWithShape="1">
          <a:blip r:embed="rId6">
            <a:alphaModFix/>
          </a:blip>
          <a:srcRect b="0" l="0" r="0" t="0"/>
          <a:stretch/>
        </p:blipFill>
        <p:spPr>
          <a:xfrm>
            <a:off x="6308824" y="4467225"/>
            <a:ext cx="2342703" cy="1228725"/>
          </a:xfrm>
          <a:prstGeom prst="rect">
            <a:avLst/>
          </a:prstGeom>
          <a:noFill/>
          <a:ln>
            <a:noFill/>
          </a:ln>
        </p:spPr>
      </p:pic>
      <p:pic>
        <p:nvPicPr>
          <p:cNvPr descr="image.png" id="142" name="Google Shape;142;p17"/>
          <p:cNvPicPr preferRelativeResize="0"/>
          <p:nvPr/>
        </p:nvPicPr>
        <p:blipFill rotWithShape="1">
          <a:blip r:embed="rId7">
            <a:alphaModFix/>
          </a:blip>
          <a:srcRect b="0" l="0" r="0" t="0"/>
          <a:stretch/>
        </p:blipFill>
        <p:spPr>
          <a:xfrm>
            <a:off x="9077473" y="2466975"/>
            <a:ext cx="2342703" cy="1428750"/>
          </a:xfrm>
          <a:prstGeom prst="rect">
            <a:avLst/>
          </a:prstGeom>
          <a:noFill/>
          <a:ln>
            <a:noFill/>
          </a:ln>
        </p:spPr>
      </p:pic>
      <p:sp>
        <p:nvSpPr>
          <p:cNvPr id="143" name="Google Shape;143;p17"/>
          <p:cNvSpPr/>
          <p:nvPr/>
        </p:nvSpPr>
        <p:spPr>
          <a:xfrm>
            <a:off x="771525" y="3971925"/>
            <a:ext cx="10648950" cy="381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7"/>
          <p:cNvSpPr txBox="1"/>
          <p:nvPr/>
        </p:nvSpPr>
        <p:spPr>
          <a:xfrm>
            <a:off x="872977" y="4638675"/>
            <a:ext cx="213979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1. Ingestión</a:t>
            </a:r>
            <a:endParaRPr/>
          </a:p>
        </p:txBody>
      </p:sp>
      <p:sp>
        <p:nvSpPr>
          <p:cNvPr id="145" name="Google Shape;145;p17"/>
          <p:cNvSpPr txBox="1"/>
          <p:nvPr/>
        </p:nvSpPr>
        <p:spPr>
          <a:xfrm>
            <a:off x="923925" y="4943475"/>
            <a:ext cx="2037903" cy="60007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El sistema se conecta a la API (Gmail/Outlook) e identifica nuevos correos sin leer.</a:t>
            </a:r>
            <a:endParaRPr/>
          </a:p>
        </p:txBody>
      </p:sp>
      <p:sp>
        <p:nvSpPr>
          <p:cNvPr id="146" name="Google Shape;146;p17"/>
          <p:cNvSpPr txBox="1"/>
          <p:nvPr/>
        </p:nvSpPr>
        <p:spPr>
          <a:xfrm>
            <a:off x="3641627" y="2819400"/>
            <a:ext cx="213979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2. Contexto</a:t>
            </a:r>
            <a:endParaRPr/>
          </a:p>
        </p:txBody>
      </p:sp>
      <p:sp>
        <p:nvSpPr>
          <p:cNvPr id="147" name="Google Shape;147;p17"/>
          <p:cNvSpPr txBox="1"/>
          <p:nvPr/>
        </p:nvSpPr>
        <p:spPr>
          <a:xfrm>
            <a:off x="3692574" y="3124200"/>
            <a:ext cx="2037903" cy="60007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Cruce de datos: Verifica si el remitente pertenece a listas de jefes o "Contactos VIP".</a:t>
            </a:r>
            <a:endParaRPr/>
          </a:p>
        </p:txBody>
      </p:sp>
      <p:sp>
        <p:nvSpPr>
          <p:cNvPr id="148" name="Google Shape;148;p17"/>
          <p:cNvSpPr txBox="1"/>
          <p:nvPr/>
        </p:nvSpPr>
        <p:spPr>
          <a:xfrm>
            <a:off x="6410276" y="4638675"/>
            <a:ext cx="213979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3. Análisis IA</a:t>
            </a:r>
            <a:endParaRPr/>
          </a:p>
        </p:txBody>
      </p:sp>
      <p:sp>
        <p:nvSpPr>
          <p:cNvPr id="149" name="Google Shape;149;p17"/>
          <p:cNvSpPr txBox="1"/>
          <p:nvPr/>
        </p:nvSpPr>
        <p:spPr>
          <a:xfrm>
            <a:off x="6461224" y="4943475"/>
            <a:ext cx="2037903" cy="60007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Extrae tema central, fechas límite, requiere acción, y asigna nivel de importancia.</a:t>
            </a:r>
            <a:endParaRPr/>
          </a:p>
        </p:txBody>
      </p:sp>
      <p:sp>
        <p:nvSpPr>
          <p:cNvPr id="150" name="Google Shape;150;p17"/>
          <p:cNvSpPr txBox="1"/>
          <p:nvPr/>
        </p:nvSpPr>
        <p:spPr>
          <a:xfrm>
            <a:off x="9178926" y="2619375"/>
            <a:ext cx="213979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4. Dashboard</a:t>
            </a:r>
            <a:endParaRPr/>
          </a:p>
        </p:txBody>
      </p:sp>
      <p:sp>
        <p:nvSpPr>
          <p:cNvPr id="151" name="Google Shape;151;p17"/>
          <p:cNvSpPr txBox="1"/>
          <p:nvPr/>
        </p:nvSpPr>
        <p:spPr>
          <a:xfrm>
            <a:off x="9229873" y="2924175"/>
            <a:ext cx="2037903" cy="800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334155"/>
                </a:solidFill>
                <a:latin typeface="Inter"/>
                <a:ea typeface="Inter"/>
                <a:cs typeface="Inter"/>
                <a:sym typeface="Inter"/>
              </a:rPr>
              <a:t>El usuario visualiza una interfaz clasificada por colores con resúmenes concisos.</a:t>
            </a:r>
            <a:endParaRPr/>
          </a:p>
        </p:txBody>
      </p:sp>
      <p:sp>
        <p:nvSpPr>
          <p:cNvPr id="152" name="Google Shape;152;p17"/>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Flujo Operativo (AI Flow v0)</a:t>
            </a:r>
            <a:endParaRPr/>
          </a:p>
        </p:txBody>
      </p:sp>
      <p:sp>
        <p:nvSpPr>
          <p:cNvPr id="153" name="Google Shape;153;p17"/>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p:nvPr/>
        </p:nvSpPr>
        <p:spPr>
          <a:xfrm>
            <a:off x="1828576" y="4067175"/>
            <a:ext cx="228600" cy="228600"/>
          </a:xfrm>
          <a:prstGeom prst="roundRect">
            <a:avLst>
              <a:gd fmla="val 50000" name="adj"/>
            </a:avLst>
          </a:prstGeom>
          <a:solidFill>
            <a:srgbClr val="FFFFFF"/>
          </a:solidFill>
          <a:ln cap="flat" cmpd="sng" w="38100">
            <a:solidFill>
              <a:srgbClr val="1E3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7"/>
          <p:cNvSpPr/>
          <p:nvPr/>
        </p:nvSpPr>
        <p:spPr>
          <a:xfrm>
            <a:off x="4597226" y="4067175"/>
            <a:ext cx="228600" cy="228600"/>
          </a:xfrm>
          <a:prstGeom prst="roundRect">
            <a:avLst>
              <a:gd fmla="val 50000" name="adj"/>
            </a:avLst>
          </a:prstGeom>
          <a:solidFill>
            <a:srgbClr val="FFFFFF"/>
          </a:solidFill>
          <a:ln cap="flat" cmpd="sng" w="38100">
            <a:solidFill>
              <a:srgbClr val="1E3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7"/>
          <p:cNvSpPr/>
          <p:nvPr/>
        </p:nvSpPr>
        <p:spPr>
          <a:xfrm>
            <a:off x="7365875" y="4067175"/>
            <a:ext cx="228600" cy="228600"/>
          </a:xfrm>
          <a:prstGeom prst="roundRect">
            <a:avLst>
              <a:gd fmla="val 50000" name="adj"/>
            </a:avLst>
          </a:prstGeom>
          <a:solidFill>
            <a:srgbClr val="FFFFFF"/>
          </a:solidFill>
          <a:ln cap="flat" cmpd="sng" w="38100">
            <a:solidFill>
              <a:srgbClr val="1E3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7"/>
          <p:cNvSpPr/>
          <p:nvPr/>
        </p:nvSpPr>
        <p:spPr>
          <a:xfrm>
            <a:off x="10134525" y="4067175"/>
            <a:ext cx="228600" cy="228600"/>
          </a:xfrm>
          <a:prstGeom prst="roundRect">
            <a:avLst>
              <a:gd fmla="val 50000" name="adj"/>
            </a:avLst>
          </a:prstGeom>
          <a:solidFill>
            <a:srgbClr val="FFFFFF"/>
          </a:solidFill>
          <a:ln cap="flat" cmpd="sng" w="38100">
            <a:solidFill>
              <a:srgbClr val="1E3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pic>
        <p:nvPicPr>
          <p:cNvPr descr="image.png" id="162" name="Google Shape;162;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3" name="Google Shape;163;p18"/>
          <p:cNvPicPr preferRelativeResize="0"/>
          <p:nvPr/>
        </p:nvPicPr>
        <p:blipFill rotWithShape="1">
          <a:blip r:embed="rId4">
            <a:alphaModFix/>
          </a:blip>
          <a:srcRect b="0" l="0" r="0" t="0"/>
          <a:stretch/>
        </p:blipFill>
        <p:spPr>
          <a:xfrm>
            <a:off x="771525" y="1915417"/>
            <a:ext cx="10648950" cy="4150965"/>
          </a:xfrm>
          <a:prstGeom prst="rect">
            <a:avLst/>
          </a:prstGeom>
          <a:noFill/>
          <a:ln>
            <a:noFill/>
          </a:ln>
        </p:spPr>
      </p:pic>
      <p:graphicFrame>
        <p:nvGraphicFramePr>
          <p:cNvPr id="164" name="Google Shape;164;p18"/>
          <p:cNvGraphicFramePr/>
          <p:nvPr/>
        </p:nvGraphicFramePr>
        <p:xfrm>
          <a:off x="771525" y="1915417"/>
          <a:ext cx="3000000" cy="3000000"/>
        </p:xfrm>
        <a:graphic>
          <a:graphicData uri="http://schemas.openxmlformats.org/drawingml/2006/table">
            <a:tbl>
              <a:tblPr bandRow="1" firstRow="1">
                <a:noFill/>
                <a:tableStyleId>{111DE13F-6DE6-4531-A402-A2E6D181AC56}</a:tableStyleId>
              </a:tblPr>
              <a:tblGrid>
                <a:gridCol w="2087475"/>
                <a:gridCol w="1154750"/>
                <a:gridCol w="1686825"/>
                <a:gridCol w="5710375"/>
              </a:tblGrid>
              <a:tr h="69182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Campo (Key)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Tipo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Obligatorio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Descripción y Restricciones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918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remitente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String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Nombre extraído textualmente de quien envía el correo.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18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importancia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String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Valores estrictos permitidos: "Alta", "Media", "Baja".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r>
              <a:tr h="6918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resumen_corto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String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Síntesis del mensaje con un máximo de 2 oraciones.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18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accion_requerida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Boolean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True/False. Define si el usuario debe ejecutar una tarea.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CFCFC"/>
                    </a:solidFill>
                  </a:tcPr>
                </a:tc>
              </a:tr>
              <a:tr h="6918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fecha_limite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String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Plazo temporal extraído; devuelve </a:t>
                      </a:r>
                      <a:r>
                        <a:rPr b="0" i="1" lang="en-US" sz="1500" u="none" cap="none" strike="noStrike">
                          <a:solidFill>
                            <a:srgbClr val="334155"/>
                          </a:solidFill>
                          <a:latin typeface="Inter"/>
                          <a:ea typeface="Inter"/>
                          <a:cs typeface="Inter"/>
                          <a:sym typeface="Inter"/>
                        </a:rPr>
                        <a:t>null</a:t>
                      </a:r>
                      <a:r>
                        <a:rPr b="0" i="0" lang="en-US" sz="1500" u="none" cap="none" strike="noStrike">
                          <a:solidFill>
                            <a:srgbClr val="334155"/>
                          </a:solidFill>
                          <a:latin typeface="Inter"/>
                          <a:ea typeface="Inter"/>
                          <a:cs typeface="Inter"/>
                          <a:sym typeface="Inter"/>
                        </a:rPr>
                        <a:t> si no existe.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5" name="Google Shape;165;p18"/>
          <p:cNvSpPr/>
          <p:nvPr/>
        </p:nvSpPr>
        <p:spPr>
          <a:xfrm>
            <a:off x="776287" y="2575470"/>
            <a:ext cx="20874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8"/>
          <p:cNvSpPr/>
          <p:nvPr/>
        </p:nvSpPr>
        <p:spPr>
          <a:xfrm>
            <a:off x="2863750" y="2575470"/>
            <a:ext cx="11547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8"/>
          <p:cNvSpPr/>
          <p:nvPr/>
        </p:nvSpPr>
        <p:spPr>
          <a:xfrm>
            <a:off x="4018508" y="2575470"/>
            <a:ext cx="1686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8"/>
          <p:cNvSpPr/>
          <p:nvPr/>
        </p:nvSpPr>
        <p:spPr>
          <a:xfrm>
            <a:off x="5705326" y="2575470"/>
            <a:ext cx="571038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8"/>
          <p:cNvSpPr/>
          <p:nvPr/>
        </p:nvSpPr>
        <p:spPr>
          <a:xfrm>
            <a:off x="776287" y="3270795"/>
            <a:ext cx="20874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8"/>
          <p:cNvSpPr/>
          <p:nvPr/>
        </p:nvSpPr>
        <p:spPr>
          <a:xfrm>
            <a:off x="2863750" y="3270795"/>
            <a:ext cx="11547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8"/>
          <p:cNvSpPr/>
          <p:nvPr/>
        </p:nvSpPr>
        <p:spPr>
          <a:xfrm>
            <a:off x="4018508" y="3270795"/>
            <a:ext cx="1686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8"/>
          <p:cNvSpPr/>
          <p:nvPr/>
        </p:nvSpPr>
        <p:spPr>
          <a:xfrm>
            <a:off x="5705326" y="3270795"/>
            <a:ext cx="571038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p:nvPr/>
        </p:nvSpPr>
        <p:spPr>
          <a:xfrm>
            <a:off x="776287" y="3966120"/>
            <a:ext cx="20874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p:nvPr/>
        </p:nvSpPr>
        <p:spPr>
          <a:xfrm>
            <a:off x="2863750" y="3966120"/>
            <a:ext cx="11547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8"/>
          <p:cNvSpPr/>
          <p:nvPr/>
        </p:nvSpPr>
        <p:spPr>
          <a:xfrm>
            <a:off x="4018508" y="3966120"/>
            <a:ext cx="1686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8"/>
          <p:cNvSpPr/>
          <p:nvPr/>
        </p:nvSpPr>
        <p:spPr>
          <a:xfrm>
            <a:off x="5705326" y="3966120"/>
            <a:ext cx="571038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8"/>
          <p:cNvSpPr/>
          <p:nvPr/>
        </p:nvSpPr>
        <p:spPr>
          <a:xfrm>
            <a:off x="776287" y="4661445"/>
            <a:ext cx="20874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p:nvPr/>
        </p:nvSpPr>
        <p:spPr>
          <a:xfrm>
            <a:off x="2863750" y="4661445"/>
            <a:ext cx="11547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8"/>
          <p:cNvSpPr/>
          <p:nvPr/>
        </p:nvSpPr>
        <p:spPr>
          <a:xfrm>
            <a:off x="4018508" y="4661445"/>
            <a:ext cx="1686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8"/>
          <p:cNvSpPr/>
          <p:nvPr/>
        </p:nvSpPr>
        <p:spPr>
          <a:xfrm>
            <a:off x="5705326" y="4661445"/>
            <a:ext cx="571038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8"/>
          <p:cNvSpPr/>
          <p:nvPr/>
        </p:nvSpPr>
        <p:spPr>
          <a:xfrm>
            <a:off x="776287" y="5356770"/>
            <a:ext cx="20874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8"/>
          <p:cNvSpPr/>
          <p:nvPr/>
        </p:nvSpPr>
        <p:spPr>
          <a:xfrm>
            <a:off x="2863750" y="5356770"/>
            <a:ext cx="11547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8"/>
          <p:cNvSpPr/>
          <p:nvPr/>
        </p:nvSpPr>
        <p:spPr>
          <a:xfrm>
            <a:off x="4018508" y="5356770"/>
            <a:ext cx="1686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8"/>
          <p:cNvSpPr/>
          <p:nvPr/>
        </p:nvSpPr>
        <p:spPr>
          <a:xfrm>
            <a:off x="5705326" y="5356770"/>
            <a:ext cx="571038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p:nvPr/>
        </p:nvSpPr>
        <p:spPr>
          <a:xfrm>
            <a:off x="776287" y="6052095"/>
            <a:ext cx="20874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8"/>
          <p:cNvSpPr/>
          <p:nvPr/>
        </p:nvSpPr>
        <p:spPr>
          <a:xfrm>
            <a:off x="2863750" y="6052095"/>
            <a:ext cx="11547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8"/>
          <p:cNvSpPr/>
          <p:nvPr/>
        </p:nvSpPr>
        <p:spPr>
          <a:xfrm>
            <a:off x="4018508" y="6052095"/>
            <a:ext cx="1686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8"/>
          <p:cNvSpPr/>
          <p:nvPr/>
        </p:nvSpPr>
        <p:spPr>
          <a:xfrm>
            <a:off x="5705326" y="6052095"/>
            <a:ext cx="571038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8"/>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Arquitectura de Salida Estructurada (JSON)</a:t>
            </a:r>
            <a:endParaRPr/>
          </a:p>
        </p:txBody>
      </p:sp>
      <p:sp>
        <p:nvSpPr>
          <p:cNvPr id="190" name="Google Shape;190;p18"/>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pic>
        <p:nvPicPr>
          <p:cNvPr descr="image.png" id="195" name="Google Shape;19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6" name="Google Shape;196;p19"/>
          <p:cNvPicPr preferRelativeResize="0"/>
          <p:nvPr/>
        </p:nvPicPr>
        <p:blipFill rotWithShape="1">
          <a:blip r:embed="rId4">
            <a:alphaModFix/>
          </a:blip>
          <a:srcRect b="0" l="0" r="0" t="0"/>
          <a:stretch/>
        </p:blipFill>
        <p:spPr>
          <a:xfrm>
            <a:off x="1481137" y="2181225"/>
            <a:ext cx="3619500" cy="3619500"/>
          </a:xfrm>
          <a:prstGeom prst="rect">
            <a:avLst/>
          </a:prstGeom>
          <a:noFill/>
          <a:ln>
            <a:noFill/>
          </a:ln>
        </p:spPr>
      </p:pic>
      <p:sp>
        <p:nvSpPr>
          <p:cNvPr id="197" name="Google Shape;197;p19"/>
          <p:cNvSpPr txBox="1"/>
          <p:nvPr/>
        </p:nvSpPr>
        <p:spPr>
          <a:xfrm>
            <a:off x="6381750" y="2552700"/>
            <a:ext cx="5290661"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Protección contra "Falsa Urgencia"</a:t>
            </a:r>
            <a:endParaRPr/>
          </a:p>
        </p:txBody>
      </p:sp>
      <p:sp>
        <p:nvSpPr>
          <p:cNvPr id="198" name="Google Shape;198;p19"/>
          <p:cNvSpPr txBox="1"/>
          <p:nvPr/>
        </p:nvSpPr>
        <p:spPr>
          <a:xfrm>
            <a:off x="6204975" y="3044213"/>
            <a:ext cx="56442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El prompt estructural ha sido diseñado rigurosamente para detectar anomalías, como </a:t>
            </a:r>
            <a:r>
              <a:rPr b="0" i="1" lang="en-US" sz="1500" u="none" cap="none" strike="noStrike">
                <a:solidFill>
                  <a:srgbClr val="334155"/>
                </a:solidFill>
                <a:latin typeface="Inter"/>
                <a:ea typeface="Inter"/>
                <a:cs typeface="Inter"/>
                <a:sym typeface="Inter"/>
              </a:rPr>
              <a:t>Newsletters</a:t>
            </a:r>
            <a:r>
              <a:rPr b="0" i="0" lang="en-US" sz="1500" u="none" cap="none" strike="noStrike">
                <a:solidFill>
                  <a:srgbClr val="334155"/>
                </a:solidFill>
                <a:latin typeface="Inter"/>
                <a:ea typeface="Inter"/>
                <a:cs typeface="Inter"/>
                <a:sym typeface="Inter"/>
              </a:rPr>
              <a:t> o correos promocionales ("¡Compra hoy con 50% de descuento!").</a:t>
            </a:r>
            <a:endParaRPr sz="1500">
              <a:solidFill>
                <a:srgbClr val="334155"/>
              </a:solidFill>
              <a:latin typeface="Inter"/>
              <a:ea typeface="Inter"/>
              <a:cs typeface="Inter"/>
              <a:sym typeface="Inter"/>
            </a:endParaRPr>
          </a:p>
        </p:txBody>
      </p:sp>
      <p:sp>
        <p:nvSpPr>
          <p:cNvPr id="199" name="Google Shape;199;p19"/>
          <p:cNvSpPr txBox="1"/>
          <p:nvPr/>
        </p:nvSpPr>
        <p:spPr>
          <a:xfrm>
            <a:off x="6204975" y="4210050"/>
            <a:ext cx="54675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La IA está instruida para forzar siempre una prioridad "Baja" y una "acción_requerida = false" en publicidad y spam, garantizando que el Dashboard permanezca limpio y enfocado exclusivamente en la operativa real.</a:t>
            </a:r>
            <a:endParaRPr/>
          </a:p>
        </p:txBody>
      </p:sp>
      <p:pic>
        <p:nvPicPr>
          <p:cNvPr descr="image.png" id="200" name="Google Shape;200;p19"/>
          <p:cNvPicPr preferRelativeResize="0"/>
          <p:nvPr/>
        </p:nvPicPr>
        <p:blipFill rotWithShape="1">
          <a:blip r:embed="rId5">
            <a:alphaModFix/>
          </a:blip>
          <a:srcRect b="0" l="0" r="0" t="0"/>
          <a:stretch/>
        </p:blipFill>
        <p:spPr>
          <a:xfrm>
            <a:off x="1557337" y="2257425"/>
            <a:ext cx="3467100" cy="3467100"/>
          </a:xfrm>
          <a:prstGeom prst="rect">
            <a:avLst/>
          </a:prstGeom>
          <a:noFill/>
          <a:ln>
            <a:noFill/>
          </a:ln>
        </p:spPr>
      </p:pic>
      <p:sp>
        <p:nvSpPr>
          <p:cNvPr id="201" name="Google Shape;201;p19"/>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Precisión: Manejo de Casos Excepcionales</a:t>
            </a:r>
            <a:endParaRPr/>
          </a:p>
        </p:txBody>
      </p:sp>
      <p:sp>
        <p:nvSpPr>
          <p:cNvPr id="202" name="Google Shape;202;p19"/>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pic>
        <p:nvPicPr>
          <p:cNvPr descr="image.png" id="207" name="Google Shape;207;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8" name="Google Shape;208;p20"/>
          <p:cNvPicPr preferRelativeResize="0"/>
          <p:nvPr/>
        </p:nvPicPr>
        <p:blipFill rotWithShape="1">
          <a:blip r:embed="rId4">
            <a:alphaModFix/>
          </a:blip>
          <a:srcRect b="0" l="0" r="0" t="0"/>
          <a:stretch/>
        </p:blipFill>
        <p:spPr>
          <a:xfrm>
            <a:off x="6381750" y="2009775"/>
            <a:ext cx="5038725" cy="4000500"/>
          </a:xfrm>
          <a:prstGeom prst="rect">
            <a:avLst/>
          </a:prstGeom>
          <a:noFill/>
          <a:ln>
            <a:noFill/>
          </a:ln>
        </p:spPr>
      </p:pic>
      <p:sp>
        <p:nvSpPr>
          <p:cNvPr id="209" name="Google Shape;209;p20"/>
          <p:cNvSpPr txBox="1"/>
          <p:nvPr/>
        </p:nvSpPr>
        <p:spPr>
          <a:xfrm>
            <a:off x="1104900" y="1704975"/>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El Riesgo:</a:t>
            </a:r>
            <a:r>
              <a:rPr b="0" i="0" lang="en-US" sz="1500" u="none" cap="none" strike="noStrike">
                <a:solidFill>
                  <a:srgbClr val="334155"/>
                </a:solidFill>
                <a:latin typeface="Inter"/>
                <a:ea typeface="Inter"/>
                <a:cs typeface="Inter"/>
                <a:sym typeface="Inter"/>
              </a:rPr>
              <a:t> La posibilidad de que la IA clasifique incorrectamente un correo altamente crítico, causando que el usuario lo ignore.</a:t>
            </a:r>
            <a:endParaRPr/>
          </a:p>
        </p:txBody>
      </p:sp>
      <p:sp>
        <p:nvSpPr>
          <p:cNvPr id="210" name="Google Shape;210;p20"/>
          <p:cNvSpPr txBox="1"/>
          <p:nvPr/>
        </p:nvSpPr>
        <p:spPr>
          <a:xfrm>
            <a:off x="1104900" y="2857500"/>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Human-in-the-Loop:</a:t>
            </a:r>
            <a:r>
              <a:rPr b="0" i="0" lang="en-US" sz="1500" u="none" cap="none" strike="noStrike">
                <a:solidFill>
                  <a:srgbClr val="334155"/>
                </a:solidFill>
                <a:latin typeface="Inter"/>
                <a:ea typeface="Inter"/>
                <a:cs typeface="Inter"/>
                <a:sym typeface="Inter"/>
              </a:rPr>
              <a:t> El dashboard cuenta con mecanismos de corrección rápida ("Cambiar prioridad").</a:t>
            </a:r>
            <a:endParaRPr/>
          </a:p>
        </p:txBody>
      </p:sp>
      <p:sp>
        <p:nvSpPr>
          <p:cNvPr id="211" name="Google Shape;211;p20"/>
          <p:cNvSpPr txBox="1"/>
          <p:nvPr/>
        </p:nvSpPr>
        <p:spPr>
          <a:xfrm>
            <a:off x="1104900" y="4010025"/>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Mejora Continua:</a:t>
            </a:r>
            <a:r>
              <a:rPr b="0" i="0" lang="en-US" sz="1500" u="none" cap="none" strike="noStrike">
                <a:solidFill>
                  <a:srgbClr val="334155"/>
                </a:solidFill>
                <a:latin typeface="Inter"/>
                <a:ea typeface="Inter"/>
                <a:cs typeface="Inter"/>
                <a:sym typeface="Inter"/>
              </a:rPr>
              <a:t> Las correcciones del usuario re-entrenan la base de conocimiento para evitar errores futuros.</a:t>
            </a:r>
            <a:endParaRPr/>
          </a:p>
        </p:txBody>
      </p:sp>
      <p:sp>
        <p:nvSpPr>
          <p:cNvPr id="212" name="Google Shape;212;p20"/>
          <p:cNvSpPr txBox="1"/>
          <p:nvPr/>
        </p:nvSpPr>
        <p:spPr>
          <a:xfrm>
            <a:off x="1104900" y="5162550"/>
            <a:ext cx="4705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Seguridad de Datos:</a:t>
            </a:r>
            <a:r>
              <a:rPr b="0" i="0" lang="en-US" sz="1500" u="none" cap="none" strike="noStrike">
                <a:solidFill>
                  <a:srgbClr val="334155"/>
                </a:solidFill>
                <a:latin typeface="Inter"/>
                <a:ea typeface="Inter"/>
                <a:cs typeface="Inter"/>
                <a:sym typeface="Inter"/>
              </a:rPr>
              <a:t> El sistema organiza visualmente la información; </a:t>
            </a:r>
            <a:r>
              <a:rPr b="0" i="1" lang="en-US" sz="1500" u="none" cap="none" strike="noStrike">
                <a:solidFill>
                  <a:srgbClr val="334155"/>
                </a:solidFill>
                <a:latin typeface="Inter"/>
                <a:ea typeface="Inter"/>
                <a:cs typeface="Inter"/>
                <a:sym typeface="Inter"/>
              </a:rPr>
              <a:t>nunca</a:t>
            </a:r>
            <a:r>
              <a:rPr b="0" i="0" lang="en-US" sz="1500" u="none" cap="none" strike="noStrike">
                <a:solidFill>
                  <a:srgbClr val="334155"/>
                </a:solidFill>
                <a:latin typeface="Inter"/>
                <a:ea typeface="Inter"/>
                <a:cs typeface="Inter"/>
                <a:sym typeface="Inter"/>
              </a:rPr>
              <a:t> borra ni oculta correos de forma permanente.</a:t>
            </a:r>
            <a:endParaRPr/>
          </a:p>
        </p:txBody>
      </p:sp>
      <p:pic>
        <p:nvPicPr>
          <p:cNvPr descr="image.png" id="213" name="Google Shape;213;p20"/>
          <p:cNvPicPr preferRelativeResize="0"/>
          <p:nvPr/>
        </p:nvPicPr>
        <p:blipFill rotWithShape="1">
          <a:blip r:embed="rId5">
            <a:alphaModFix/>
          </a:blip>
          <a:srcRect b="0" l="0" r="0" t="0"/>
          <a:stretch/>
        </p:blipFill>
        <p:spPr>
          <a:xfrm>
            <a:off x="6381750" y="2009775"/>
            <a:ext cx="5038725" cy="4000500"/>
          </a:xfrm>
          <a:prstGeom prst="rect">
            <a:avLst/>
          </a:prstGeom>
          <a:noFill/>
          <a:ln>
            <a:noFill/>
          </a:ln>
        </p:spPr>
      </p:pic>
      <p:sp>
        <p:nvSpPr>
          <p:cNvPr id="214" name="Google Shape;214;p20"/>
          <p:cNvSpPr txBox="1"/>
          <p:nvPr/>
        </p:nvSpPr>
        <p:spPr>
          <a:xfrm>
            <a:off x="771525" y="1724025"/>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215" name="Google Shape;215;p20"/>
          <p:cNvSpPr txBox="1"/>
          <p:nvPr/>
        </p:nvSpPr>
        <p:spPr>
          <a:xfrm>
            <a:off x="771525" y="2876550"/>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216" name="Google Shape;216;p20"/>
          <p:cNvSpPr txBox="1"/>
          <p:nvPr/>
        </p:nvSpPr>
        <p:spPr>
          <a:xfrm>
            <a:off x="771525" y="4029075"/>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217" name="Google Shape;217;p20"/>
          <p:cNvSpPr txBox="1"/>
          <p:nvPr/>
        </p:nvSpPr>
        <p:spPr>
          <a:xfrm>
            <a:off x="771525" y="5181600"/>
            <a:ext cx="9525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B82F6"/>
                </a:solidFill>
                <a:latin typeface="Inter"/>
                <a:ea typeface="Inter"/>
                <a:cs typeface="Inter"/>
                <a:sym typeface="Inter"/>
              </a:rPr>
              <a:t>■</a:t>
            </a:r>
            <a:endParaRPr/>
          </a:p>
        </p:txBody>
      </p:sp>
      <p:sp>
        <p:nvSpPr>
          <p:cNvPr id="218" name="Google Shape;218;p20"/>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Control y Mitigación de Riesgos</a:t>
            </a:r>
            <a:endParaRPr/>
          </a:p>
        </p:txBody>
      </p:sp>
      <p:sp>
        <p:nvSpPr>
          <p:cNvPr id="219" name="Google Shape;219;p20"/>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pic>
        <p:nvPicPr>
          <p:cNvPr descr="image.png" id="224" name="Google Shape;224;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5" name="Google Shape;225;p21"/>
          <p:cNvSpPr txBox="1"/>
          <p:nvPr/>
        </p:nvSpPr>
        <p:spPr>
          <a:xfrm>
            <a:off x="771525" y="3019425"/>
            <a:ext cx="4638675" cy="152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000" u="none" cap="none" strike="noStrike">
                <a:solidFill>
                  <a:srgbClr val="1E3A8A"/>
                </a:solidFill>
                <a:latin typeface="Playfair Display"/>
                <a:ea typeface="Playfair Display"/>
                <a:cs typeface="Playfair Display"/>
                <a:sym typeface="Playfair Display"/>
              </a:rPr>
              <a:t>30+</a:t>
            </a:r>
            <a:endParaRPr/>
          </a:p>
        </p:txBody>
      </p:sp>
      <p:sp>
        <p:nvSpPr>
          <p:cNvPr id="226" name="Google Shape;226;p21"/>
          <p:cNvSpPr txBox="1"/>
          <p:nvPr/>
        </p:nvSpPr>
        <p:spPr>
          <a:xfrm>
            <a:off x="771525" y="4638675"/>
            <a:ext cx="463867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64748B"/>
                </a:solidFill>
                <a:latin typeface="Inter"/>
                <a:ea typeface="Inter"/>
                <a:cs typeface="Inter"/>
                <a:sym typeface="Inter"/>
              </a:rPr>
              <a:t>MINUTOS AHORRADOS</a:t>
            </a:r>
            <a:endParaRPr/>
          </a:p>
        </p:txBody>
      </p:sp>
      <p:sp>
        <p:nvSpPr>
          <p:cNvPr id="227" name="Google Shape;227;p21"/>
          <p:cNvSpPr txBox="1"/>
          <p:nvPr/>
        </p:nvSpPr>
        <p:spPr>
          <a:xfrm>
            <a:off x="6381750" y="2552700"/>
            <a:ext cx="5290661"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Indicadores de Valor</a:t>
            </a:r>
            <a:endParaRPr/>
          </a:p>
        </p:txBody>
      </p:sp>
      <p:sp>
        <p:nvSpPr>
          <p:cNvPr id="228" name="Google Shape;228;p21"/>
          <p:cNvSpPr txBox="1"/>
          <p:nvPr/>
        </p:nvSpPr>
        <p:spPr>
          <a:xfrm>
            <a:off x="6381750" y="2990850"/>
            <a:ext cx="50387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Nuestra métrica principal (North Star Metric) es la cantidad de tiempo diario que el usuario ahorra en la lectura y gestión de correos intrascendentes.</a:t>
            </a:r>
            <a:endParaRPr/>
          </a:p>
        </p:txBody>
      </p:sp>
      <p:sp>
        <p:nvSpPr>
          <p:cNvPr id="229" name="Google Shape;229;p21"/>
          <p:cNvSpPr txBox="1"/>
          <p:nvPr/>
        </p:nvSpPr>
        <p:spPr>
          <a:xfrm>
            <a:off x="6381750" y="4048125"/>
            <a:ext cx="50388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Consideramos la implementación exitosa si logramos una reducción mínima de 30 minutos al día, acompañada de una adopción donde el usuario abre nuestra aplicación de manera preferencial frente al cliente de correo nativo.</a:t>
            </a:r>
            <a:endParaRPr/>
          </a:p>
        </p:txBody>
      </p:sp>
      <p:sp>
        <p:nvSpPr>
          <p:cNvPr id="230" name="Google Shape;230;p21"/>
          <p:cNvSpPr txBox="1"/>
          <p:nvPr/>
        </p:nvSpPr>
        <p:spPr>
          <a:xfrm>
            <a:off x="771525" y="581025"/>
            <a:ext cx="11181397"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F172A"/>
                </a:solidFill>
                <a:latin typeface="Inter"/>
                <a:ea typeface="Inter"/>
                <a:cs typeface="Inter"/>
                <a:sym typeface="Inter"/>
              </a:rPr>
              <a:t>Métricas y Criterios de Éxito</a:t>
            </a:r>
            <a:endParaRPr/>
          </a:p>
        </p:txBody>
      </p:sp>
      <p:sp>
        <p:nvSpPr>
          <p:cNvPr id="231" name="Google Shape;231;p21"/>
          <p:cNvSpPr/>
          <p:nvPr/>
        </p:nvSpPr>
        <p:spPr>
          <a:xfrm>
            <a:off x="771525" y="1209675"/>
            <a:ext cx="1064895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pic>
        <p:nvPicPr>
          <p:cNvPr descr="image.png" id="236" name="Google Shape;236;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7" name="Google Shape;237;p22"/>
          <p:cNvSpPr txBox="1"/>
          <p:nvPr/>
        </p:nvSpPr>
        <p:spPr>
          <a:xfrm>
            <a:off x="3170634" y="2510730"/>
            <a:ext cx="5850731" cy="121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200" u="none" cap="none" strike="noStrike">
                <a:solidFill>
                  <a:srgbClr val="1E3A8A"/>
                </a:solidFill>
                <a:latin typeface="Playfair Display"/>
                <a:ea typeface="Playfair Display"/>
                <a:cs typeface="Playfair Display"/>
                <a:sym typeface="Playfair Display"/>
              </a:rPr>
              <a:t>¿Preguntas?</a:t>
            </a:r>
            <a:endParaRPr/>
          </a:p>
        </p:txBody>
      </p:sp>
      <p:sp>
        <p:nvSpPr>
          <p:cNvPr id="238" name="Google Shape;238;p22"/>
          <p:cNvSpPr txBox="1"/>
          <p:nvPr/>
        </p:nvSpPr>
        <p:spPr>
          <a:xfrm>
            <a:off x="3309937" y="3920430"/>
            <a:ext cx="5572125"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475569"/>
                </a:solidFill>
                <a:latin typeface="Inter Light"/>
                <a:ea typeface="Inter Light"/>
                <a:cs typeface="Inter Light"/>
                <a:sym typeface="Inter Light"/>
              </a:rPr>
              <a:t>Equipo Salchicha | Proyecto: Dog Dashboard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